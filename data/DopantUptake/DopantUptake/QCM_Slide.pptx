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87" r:id="rId2"/>
    <p:sldId id="3786" r:id="rId3"/>
    <p:sldId id="3789" r:id="rId4"/>
    <p:sldId id="256" r:id="rId5"/>
    <p:sldId id="3791" r:id="rId6"/>
    <p:sldId id="3790" r:id="rId7"/>
    <p:sldId id="378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5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FB0A-72A6-4716-7A8D-E193D76A1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9579B-F98B-16A2-B440-1D34E72BA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98FF1-92C4-25FA-CAF4-52BE991E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5642-BD11-494E-91C4-8D9B2EB97A9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F4F47-4573-C823-4F03-3409EB1F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F2D10-1886-C2E8-133F-AF0C8496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56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A6825-0FA1-96CF-33A0-D0DE953D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5F0BC-C4A5-5451-DBD4-EDF66742D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07C74-01CA-105D-E525-DA117AB6B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5642-BD11-494E-91C4-8D9B2EB97A9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C8C77-245F-6E9B-93E1-848DC13F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B879B-D267-95AB-D98A-937B8245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76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91139-8574-1779-31BB-C9FB8251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F8742-BB6F-101A-D5A8-F2E3E0A43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99FD8-BD25-00C4-B7D8-FBE9D99FC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5642-BD11-494E-91C4-8D9B2EB97A9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24CDE-A1AE-BEAC-00AE-C6D81043D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ACD5A-CDB0-E282-DCDC-C9888389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57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293A-B45C-AFFB-6877-40CA1624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93DAE-86F2-F144-E98B-5F8F44483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ECB83-4AB6-E625-0DE7-A9F0E91F5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EEED1-0815-71A0-1516-4850B25F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5642-BD11-494E-91C4-8D9B2EB97A9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47094-68B1-378B-51B9-C3CD6D30C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DC88E-D676-4521-E7DA-FADD138E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0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F67F-6DE7-AFB7-9B8B-BE84B40EF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B96F8-DE4D-D30F-274A-3F6DC3BB2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63A71-8A6B-E2E5-407A-40D212F30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B0BF2-7B6F-6AA7-05C5-EEDC01357F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0AC6CA-B4AB-07C5-A16E-A12E1828C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EECDC0-7F71-CFB4-12CC-41010003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5642-BD11-494E-91C4-8D9B2EB97A9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932F1-AF2C-57C1-463C-DFC4197BF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588E7D-14B0-069F-C11B-D5BC863E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87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49F7-CFD4-2F76-7E93-9C168FED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F84E4-3E00-C8E8-4350-E8405066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5642-BD11-494E-91C4-8D9B2EB97A9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BD41D-9FF9-6AA6-E079-DE0272A8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5783A7-F73C-70C9-E47C-8DA10F4E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61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B4E4B-D73E-4FB1-2EB5-9279A1BA5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5642-BD11-494E-91C4-8D9B2EB97A9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1C8BD3-9B60-BF5F-8CDC-C7BB1C239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9D36B-ACE0-8114-C7D7-950619C7F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59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A5611-06AA-FBA7-489C-B540474FE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6DB86-0417-5709-12C7-244CBA38E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36EB7-5D0B-C0F9-A50F-F3445A0B3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4D925-E6B4-F71A-6A3C-83E32F727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5642-BD11-494E-91C4-8D9B2EB97A9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4C6FF-B1BF-B56B-1920-B1B5BB19D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36C67-F16E-6E4D-DDB4-E2A3D8CFE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58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A4413-6C20-3946-4115-E9D9EDA70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C55491-1970-7495-54F2-DA24A93F3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815FF-056B-DC1D-F748-55BAD4D1E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371E8-ECAF-06CC-85A9-CEE9BBBE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5642-BD11-494E-91C4-8D9B2EB97A9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F5359-D8F0-74BF-6A51-A6110190E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63EAC-7E60-C134-1C55-A6103AB2F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63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D8579-4549-BE6D-8187-064EC867D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DB09E-0D26-0565-EB96-5C1305A36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BA5C7-8B9C-D038-9ED8-49AE9A7C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5642-BD11-494E-91C4-8D9B2EB97A9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8FBC3-8D79-9E13-FF14-54AD9573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D2701-7383-73DF-9388-D42F7C80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2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3C52E-529D-1038-3144-0BF1C204C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E8C636-62F6-7F55-5365-2E5EE00CC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68D8E-90A9-8F2F-61F2-506873514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E5642-BD11-494E-91C4-8D9B2EB97A9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2ABE5-F0F5-FDA8-7D53-899386B3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A4F96-C4C0-6EBF-69AE-5DF50FD8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80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4AE40-A098-49D3-AA43-FE3E0958D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551" y="1209823"/>
            <a:ext cx="9852703" cy="47337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3ECA6-265E-4FC4-95F1-5C40B88F982C}"/>
              </a:ext>
            </a:extLst>
          </p:cNvPr>
          <p:cNvSpPr txBox="1"/>
          <p:nvPr userDrawn="1"/>
        </p:nvSpPr>
        <p:spPr>
          <a:xfrm>
            <a:off x="1631852" y="147968"/>
            <a:ext cx="7807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13F0580-6D29-4361-890A-819C8B7E7A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53551" y="216447"/>
            <a:ext cx="8863012" cy="647114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330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43CDD4-C82C-DA94-E0B9-A7D2C3D9F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F3A57-2544-89BE-CDD9-52B5A528C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E4AF0-527F-EF12-8548-92B0553A2A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5E5642-BD11-494E-91C4-8D9B2EB97A9B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D28D-1ACD-590D-1AC3-8CC4E98D0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E18BF-2E11-86BC-FAB0-F3B629D11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D60C4-AB48-40BA-8EE9-04BD203758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3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235FDB-0975-1F7B-9682-82E360A9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Details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435288-FD3F-0D98-8702-2335BD8E5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Films of pBTTT are prepared on QCM sensors following unique fabrication/processing details</a:t>
            </a:r>
          </a:p>
          <a:p>
            <a:r>
              <a:rPr lang="en-US" dirty="0"/>
              <a:t>QCM is assembled and allowed to come to equilibrium</a:t>
            </a:r>
          </a:p>
          <a:p>
            <a:r>
              <a:rPr lang="en-US" dirty="0"/>
              <a:t>Pure solvent is introduced (150 </a:t>
            </a:r>
            <a:r>
              <a:rPr lang="el-GR" dirty="0"/>
              <a:t>μ</a:t>
            </a:r>
            <a:r>
              <a:rPr lang="en-US" dirty="0"/>
              <a:t>L) and allowed to come to equilibrium</a:t>
            </a:r>
          </a:p>
          <a:p>
            <a:r>
              <a:rPr lang="en-US" dirty="0"/>
              <a:t>Loaded solution (50 </a:t>
            </a:r>
            <a:r>
              <a:rPr lang="el-GR" dirty="0"/>
              <a:t>μ</a:t>
            </a:r>
            <a:r>
              <a:rPr lang="en-US" dirty="0"/>
              <a:t>L, 2 mg/mL) is added to the existing solvent to introduce dopant which results in mass uptake in the film which we model with the Sauerbrey formula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733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954EA-8CF8-F4C4-4C75-B08D1308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622BC49-2843-52BA-C8FC-8AE0BE7B8833}"/>
              </a:ext>
            </a:extLst>
          </p:cNvPr>
          <p:cNvGrpSpPr/>
          <p:nvPr/>
        </p:nvGrpSpPr>
        <p:grpSpPr>
          <a:xfrm>
            <a:off x="595710" y="1572209"/>
            <a:ext cx="5020545" cy="3483390"/>
            <a:chOff x="3520640" y="666203"/>
            <a:chExt cx="5020545" cy="348339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740763E-EFA5-B012-5EF4-2949B3CCB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20640" y="666203"/>
              <a:ext cx="5020545" cy="3483390"/>
            </a:xfrm>
            <a:prstGeom prst="rect">
              <a:avLst/>
            </a:prstGeom>
          </p:spPr>
        </p:pic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F0996C2-2A11-25B6-0E98-83238B9D7189}"/>
                </a:ext>
              </a:extLst>
            </p:cNvPr>
            <p:cNvSpPr/>
            <p:nvPr/>
          </p:nvSpPr>
          <p:spPr>
            <a:xfrm>
              <a:off x="6030912" y="3313904"/>
              <a:ext cx="1394016" cy="1973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6111F65-F4DF-E253-C4C7-BBF1F6994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679" y="1560100"/>
            <a:ext cx="4535598" cy="3472215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28A328-DEF8-6610-D0E1-72762A417504}"/>
              </a:ext>
            </a:extLst>
          </p:cNvPr>
          <p:cNvCxnSpPr>
            <a:cxnSpLocks/>
          </p:cNvCxnSpPr>
          <p:nvPr/>
        </p:nvCxnSpPr>
        <p:spPr>
          <a:xfrm>
            <a:off x="7105276" y="3368858"/>
            <a:ext cx="0" cy="85944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31CEE96-9535-7013-651A-D5424E3CBD39}"/>
              </a:ext>
            </a:extLst>
          </p:cNvPr>
          <p:cNvSpPr txBox="1"/>
          <p:nvPr/>
        </p:nvSpPr>
        <p:spPr>
          <a:xfrm>
            <a:off x="7051738" y="3588211"/>
            <a:ext cx="52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m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F94D102-CF52-C3F5-93C3-8755221B9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564" y="543138"/>
            <a:ext cx="1783208" cy="6348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93A9E95-94AC-B5EF-F0AA-87731F59B4C1}"/>
              </a:ext>
            </a:extLst>
          </p:cNvPr>
          <p:cNvSpPr txBox="1"/>
          <p:nvPr/>
        </p:nvSpPr>
        <p:spPr>
          <a:xfrm>
            <a:off x="1524300" y="662630"/>
            <a:ext cx="2018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Sauerbrey</a:t>
            </a:r>
            <a:r>
              <a:rPr lang="en-US" dirty="0"/>
              <a:t>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46D584A-85BA-74FF-D67A-6C86F21D06D7}"/>
                  </a:ext>
                </a:extLst>
              </p:cNvPr>
              <p:cNvSpPr txBox="1"/>
              <p:nvPr/>
            </p:nvSpPr>
            <p:spPr>
              <a:xfrm>
                <a:off x="6391655" y="517526"/>
                <a:ext cx="3423479" cy="65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m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𝑠𝑒𝑛𝑠𝑜𝑟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𝑝𝐵𝑇𝑇𝑇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𝑀𝑊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𝑇𝐶𝑁𝑄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46D584A-85BA-74FF-D67A-6C86F21D0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655" y="517526"/>
                <a:ext cx="3423479" cy="6595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AC826FC7-7DAE-C6E6-A3CE-80CD6131BC86}"/>
              </a:ext>
            </a:extLst>
          </p:cNvPr>
          <p:cNvSpPr txBox="1"/>
          <p:nvPr/>
        </p:nvSpPr>
        <p:spPr>
          <a:xfrm>
            <a:off x="9901443" y="2402993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N</a:t>
            </a:r>
            <a:r>
              <a:rPr lang="en-US" b="1" dirty="0"/>
              <a:t> =3.7 x 10</a:t>
            </a:r>
            <a:r>
              <a:rPr lang="en-US" b="1" baseline="30000" dirty="0"/>
              <a:t>20</a:t>
            </a:r>
            <a:r>
              <a:rPr lang="en-US" b="1" dirty="0"/>
              <a:t> cm</a:t>
            </a:r>
            <a:r>
              <a:rPr lang="en-US" b="1" baseline="30000" dirty="0"/>
              <a:t>-3</a:t>
            </a:r>
            <a:r>
              <a:rPr lang="en-US" b="1" dirty="0"/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DDC9B2-B8BF-51E8-5FEF-AFD7CDFA2591}"/>
              </a:ext>
            </a:extLst>
          </p:cNvPr>
          <p:cNvSpPr txBox="1"/>
          <p:nvPr/>
        </p:nvSpPr>
        <p:spPr>
          <a:xfrm>
            <a:off x="9815134" y="3271379"/>
            <a:ext cx="2079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>
                <a:sym typeface="Symbol" panose="05050102010706020507" pitchFamily="18" charset="2"/>
              </a:rPr>
              <a:t>Doping efficiency:</a:t>
            </a:r>
          </a:p>
          <a:p>
            <a:pPr algn="ctr"/>
            <a:endParaRPr lang="en-US" sz="1200" b="1" i="1" dirty="0">
              <a:sym typeface="Symbol" panose="05050102010706020507" pitchFamily="18" charset="2"/>
            </a:endParaRPr>
          </a:p>
          <a:p>
            <a:pPr algn="ctr"/>
            <a:r>
              <a:rPr lang="en-US" b="1" i="1" dirty="0">
                <a:sym typeface="Symbol" panose="05050102010706020507" pitchFamily="18" charset="2"/>
              </a:rPr>
              <a:t> = n/</a:t>
            </a:r>
            <a:r>
              <a:rPr lang="en-US" b="1" i="1" dirty="0"/>
              <a:t>N</a:t>
            </a:r>
            <a:r>
              <a:rPr lang="en-US" b="1" dirty="0"/>
              <a:t> = 0.67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97E8D2-255E-5319-5824-8B2DBA7EB77E}"/>
              </a:ext>
            </a:extLst>
          </p:cNvPr>
          <p:cNvSpPr txBox="1"/>
          <p:nvPr/>
        </p:nvSpPr>
        <p:spPr>
          <a:xfrm>
            <a:off x="9901443" y="2837186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n</a:t>
            </a:r>
            <a:r>
              <a:rPr lang="en-US" b="1" dirty="0"/>
              <a:t> = 2.5 x 10</a:t>
            </a:r>
            <a:r>
              <a:rPr lang="en-US" b="1" baseline="30000" dirty="0"/>
              <a:t>20</a:t>
            </a:r>
            <a:r>
              <a:rPr lang="en-US" b="1" dirty="0"/>
              <a:t> cm</a:t>
            </a:r>
            <a:r>
              <a:rPr lang="en-US" b="1" baseline="30000" dirty="0"/>
              <a:t>-3</a:t>
            </a:r>
            <a:r>
              <a:rPr lang="en-US" b="1" dirty="0"/>
              <a:t>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6DE1E8-9491-40E0-4226-3BE7650AB520}"/>
              </a:ext>
            </a:extLst>
          </p:cNvPr>
          <p:cNvSpPr txBox="1"/>
          <p:nvPr/>
        </p:nvSpPr>
        <p:spPr>
          <a:xfrm>
            <a:off x="1240759" y="5198800"/>
            <a:ext cx="4462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QCM-D allows us to identify mass changes during doping associated with F4TCNQ uptake</a:t>
            </a:r>
            <a:endParaRPr lang="en-US" sz="2400" baseline="-25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EE656B9-6186-3B56-90C8-B5C6641A6941}"/>
              </a:ext>
            </a:extLst>
          </p:cNvPr>
          <p:cNvSpPr txBox="1"/>
          <p:nvPr/>
        </p:nvSpPr>
        <p:spPr>
          <a:xfrm>
            <a:off x="5781679" y="4993441"/>
            <a:ext cx="44629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Identifying the mass uptake and number of carriers from </a:t>
            </a:r>
            <a:r>
              <a:rPr lang="en-US" sz="2400" dirty="0" err="1"/>
              <a:t>specEchem</a:t>
            </a:r>
            <a:r>
              <a:rPr lang="en-US" sz="2400" dirty="0"/>
              <a:t> allows us to calculate doping </a:t>
            </a:r>
            <a:r>
              <a:rPr lang="en-US" sz="2400" dirty="0" err="1"/>
              <a:t>effiency</a:t>
            </a:r>
            <a:endParaRPr lang="en-US" sz="2400" baseline="-25000" dirty="0"/>
          </a:p>
        </p:txBody>
      </p:sp>
      <p:sp>
        <p:nvSpPr>
          <p:cNvPr id="61" name="Slide Number Placeholder 17">
            <a:extLst>
              <a:ext uri="{FF2B5EF4-FFF2-40B4-BE49-F238E27FC236}">
                <a16:creationId xmlns:a16="http://schemas.microsoft.com/office/drawing/2014/main" id="{E53E3926-E472-53BD-0C9F-F19F82010DB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0858C50-5D6D-4C4C-ACC8-C0F9FB68AB3C}" type="slidenum">
              <a:rPr lang="en-US" sz="1200" smtClean="0">
                <a:solidFill>
                  <a:schemeClr val="bg1">
                    <a:lumMod val="50000"/>
                  </a:schemeClr>
                </a:solidFill>
              </a:rPr>
              <a:pPr algn="r"/>
              <a:t>2</a:t>
            </a:fld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18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26" grpId="0"/>
      <p:bldP spid="27" grpId="0"/>
      <p:bldP spid="28" grpId="0"/>
      <p:bldP spid="29" grpId="0"/>
      <p:bldP spid="59" grpId="0"/>
      <p:bldP spid="6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5AFC5-2052-DC41-A01C-10B8A9F56E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Model: physical processes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438EA41-08F4-7E3A-FE71-DE5F578FA28D}"/>
              </a:ext>
            </a:extLst>
          </p:cNvPr>
          <p:cNvGrpSpPr/>
          <p:nvPr/>
        </p:nvGrpSpPr>
        <p:grpSpPr>
          <a:xfrm>
            <a:off x="1153551" y="1093572"/>
            <a:ext cx="8624090" cy="1251806"/>
            <a:chOff x="1153551" y="1790258"/>
            <a:chExt cx="8624090" cy="125180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43B37A-7D10-687D-5C9F-634A086A6B37}"/>
                </a:ext>
              </a:extLst>
            </p:cNvPr>
            <p:cNvSpPr/>
            <p:nvPr/>
          </p:nvSpPr>
          <p:spPr>
            <a:xfrm>
              <a:off x="1153551" y="2083981"/>
              <a:ext cx="1568384" cy="478466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7ADE56-C81A-B8C3-0BF0-6495D33B3A94}"/>
                </a:ext>
              </a:extLst>
            </p:cNvPr>
            <p:cNvSpPr/>
            <p:nvPr/>
          </p:nvSpPr>
          <p:spPr>
            <a:xfrm>
              <a:off x="1153551" y="2562447"/>
              <a:ext cx="1568384" cy="478466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C2F8E2-B499-5EDC-826F-0D6F8F2F1996}"/>
                </a:ext>
              </a:extLst>
            </p:cNvPr>
            <p:cNvSpPr/>
            <p:nvPr/>
          </p:nvSpPr>
          <p:spPr>
            <a:xfrm>
              <a:off x="3505453" y="2083981"/>
              <a:ext cx="1568384" cy="9569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7129DCA-3CF2-0784-2BD3-988D51377F4F}"/>
                </a:ext>
              </a:extLst>
            </p:cNvPr>
            <p:cNvSpPr/>
            <p:nvPr/>
          </p:nvSpPr>
          <p:spPr>
            <a:xfrm>
              <a:off x="5857355" y="2083981"/>
              <a:ext cx="1568384" cy="9569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F0A6F06-62DF-E465-7830-0436FE5F8A17}"/>
                </a:ext>
              </a:extLst>
            </p:cNvPr>
            <p:cNvSpPr/>
            <p:nvPr/>
          </p:nvSpPr>
          <p:spPr>
            <a:xfrm>
              <a:off x="5857355" y="1865869"/>
              <a:ext cx="1568384" cy="21811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11B41CF-BE06-8C86-BE91-40F5730734E9}"/>
                </a:ext>
              </a:extLst>
            </p:cNvPr>
            <p:cNvSpPr/>
            <p:nvPr/>
          </p:nvSpPr>
          <p:spPr>
            <a:xfrm>
              <a:off x="8209257" y="1865869"/>
              <a:ext cx="1568384" cy="117619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7466570-3988-DAFB-D27A-5FFD5056593C}"/>
                </a:ext>
              </a:extLst>
            </p:cNvPr>
            <p:cNvSpPr txBox="1"/>
            <p:nvPr/>
          </p:nvSpPr>
          <p:spPr>
            <a:xfrm>
              <a:off x="1413764" y="2617014"/>
              <a:ext cx="1000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polymer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27F3690-3AC0-790D-79B8-C51A260D9DA1}"/>
                </a:ext>
              </a:extLst>
            </p:cNvPr>
            <p:cNvSpPr txBox="1"/>
            <p:nvPr/>
          </p:nvSpPr>
          <p:spPr>
            <a:xfrm>
              <a:off x="1437446" y="2138548"/>
              <a:ext cx="908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solvent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5386AB-D598-F19B-9A72-516AEEA2AE93}"/>
                </a:ext>
              </a:extLst>
            </p:cNvPr>
            <p:cNvSpPr txBox="1"/>
            <p:nvPr/>
          </p:nvSpPr>
          <p:spPr>
            <a:xfrm>
              <a:off x="3790277" y="2235642"/>
              <a:ext cx="99873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swollen </a:t>
              </a:r>
            </a:p>
            <a:p>
              <a:pPr algn="ctr"/>
              <a:r>
                <a:rPr lang="en-US" dirty="0"/>
                <a:t>film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D4351E-4F9E-BA03-F8F9-6237BEF4DF03}"/>
                </a:ext>
              </a:extLst>
            </p:cNvPr>
            <p:cNvSpPr txBox="1"/>
            <p:nvPr/>
          </p:nvSpPr>
          <p:spPr>
            <a:xfrm>
              <a:off x="6178920" y="1790258"/>
              <a:ext cx="9252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Dopant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97E89B-4D9B-5856-B903-4C087EB8D35C}"/>
                </a:ext>
              </a:extLst>
            </p:cNvPr>
            <p:cNvSpPr txBox="1"/>
            <p:nvPr/>
          </p:nvSpPr>
          <p:spPr>
            <a:xfrm>
              <a:off x="8541899" y="2159590"/>
              <a:ext cx="89800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Doped </a:t>
              </a:r>
            </a:p>
            <a:p>
              <a:pPr algn="ctr"/>
              <a:r>
                <a:rPr lang="en-US" dirty="0"/>
                <a:t>film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9DA6B32-74F4-2EA4-1EBF-1F7A392A4808}"/>
                </a:ext>
              </a:extLst>
            </p:cNvPr>
            <p:cNvCxnSpPr/>
            <p:nvPr/>
          </p:nvCxnSpPr>
          <p:spPr>
            <a:xfrm>
              <a:off x="2916195" y="2562447"/>
              <a:ext cx="40365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004EBFF-4493-C453-055C-7A270F4DCBD9}"/>
                </a:ext>
              </a:extLst>
            </p:cNvPr>
            <p:cNvCxnSpPr/>
            <p:nvPr/>
          </p:nvCxnSpPr>
          <p:spPr>
            <a:xfrm>
              <a:off x="5292812" y="2562447"/>
              <a:ext cx="40365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994C121-1758-507A-E723-FCE3DCFE35C3}"/>
                </a:ext>
              </a:extLst>
            </p:cNvPr>
            <p:cNvCxnSpPr/>
            <p:nvPr/>
          </p:nvCxnSpPr>
          <p:spPr>
            <a:xfrm>
              <a:off x="7582930" y="2558808"/>
              <a:ext cx="40365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">
            <a:extLst>
              <a:ext uri="{FF2B5EF4-FFF2-40B4-BE49-F238E27FC236}">
                <a16:creationId xmlns:a16="http://schemas.microsoft.com/office/drawing/2014/main" id="{6B2D37D4-E01A-9978-2195-F0523EA4D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34" y="2813394"/>
            <a:ext cx="500235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Diffusion: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solvent molecules penetrate the polymer matrix via diffusion. Diffusion rate depends on solvent polarity, molecular size, and polymer packing/crystallinity (morphology). Creates a concentration gradient that drives further solvent uptake.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Swelling: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 solvent enters, polymer chains gain mobility and expand. welling can be isotropic or anisotropic depending on film orientation and crystallinity. Changes film thickness, optical properties, and mechanical stress.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Morphological changes: Phase separation (if blends or additives are present).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Other phenomena: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solvent evaporation,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dewetting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(less likely). 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987FF3-EFC0-25BA-CF69-E0E6F2033EA5}"/>
              </a:ext>
            </a:extLst>
          </p:cNvPr>
          <p:cNvSpPr txBox="1"/>
          <p:nvPr/>
        </p:nvSpPr>
        <p:spPr>
          <a:xfrm>
            <a:off x="545547" y="58624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Solvent quality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(good vs poor solvent for polymer).</a:t>
            </a:r>
          </a:p>
          <a:p>
            <a:r>
              <a:rPr lang="el-GR" sz="1400" b="1" dirty="0">
                <a:latin typeface="Arial" panose="020B0604020202020204" pitchFamily="34" charset="0"/>
                <a:cs typeface="Arial" panose="020B0604020202020204" pitchFamily="34" charset="0"/>
              </a:rPr>
              <a:t>χ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(Flory-Huggins interaction parameter).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Film thickness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(thin films respond faster).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Polymer crystallinity and glass transition temperature (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Tg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841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descr="Project Path: G:\Shared drives\JakeProject\DMREF\Data\QCM-D\Old_PBTTT\QCM-D.opju&#10;PE Folder: /QCM-D/Folder1/&#10;Short Name: Graph76">
            <a:extLst>
              <a:ext uri="{FF2B5EF4-FFF2-40B4-BE49-F238E27FC236}">
                <a16:creationId xmlns:a16="http://schemas.microsoft.com/office/drawing/2014/main" id="{0195F83B-1335-6840-BB18-E1A9C0B03A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155918"/>
              </p:ext>
            </p:extLst>
          </p:nvPr>
        </p:nvGraphicFramePr>
        <p:xfrm>
          <a:off x="5724976" y="931712"/>
          <a:ext cx="5029200" cy="3848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920862" imgH="3001032" progId="Origin95.Graph">
                  <p:embed/>
                </p:oleObj>
              </mc:Choice>
              <mc:Fallback>
                <p:oleObj name="Graph" r:id="rId2" imgW="3920862" imgH="3001032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24976" y="931712"/>
                        <a:ext cx="5029200" cy="3848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E960A8-092C-20ED-9A27-4F7C6666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59F86A5-CB6C-5224-A56B-FD5D2A40D3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049637"/>
              </p:ext>
            </p:extLst>
          </p:nvPr>
        </p:nvGraphicFramePr>
        <p:xfrm>
          <a:off x="1080479" y="931712"/>
          <a:ext cx="5029200" cy="3848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920862" imgH="3001032" progId="Origin95.Graph">
                  <p:embed/>
                </p:oleObj>
              </mc:Choice>
              <mc:Fallback>
                <p:oleObj name="Graph" r:id="rId4" imgW="3920862" imgH="3001032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0479" y="931712"/>
                        <a:ext cx="5029200" cy="38482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1432EC7-4109-6F2C-4E3B-56ECDF58356C}"/>
              </a:ext>
            </a:extLst>
          </p:cNvPr>
          <p:cNvSpPr txBox="1"/>
          <p:nvPr/>
        </p:nvSpPr>
        <p:spPr>
          <a:xfrm>
            <a:off x="1452229" y="5032009"/>
            <a:ext cx="91776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Dopant uptake occurs very quickly, less than 5-10 seconds, consistent across samples</a:t>
            </a:r>
            <a:endParaRPr 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102220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19D9C-B0B3-D96B-9505-8E29AAA4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1C02A4-3E40-C439-9835-5D7D5A0B7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D7E15-ABF9-DCDC-463C-0265659DE7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5995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605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E491-CFF1-A4E6-A943-E57D22C5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DA7058-3EEE-1D71-B140-D7C6858B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D60C4-AB48-40BA-8EE9-04BD203758AB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4" name="Object 3" descr="Project Path: G:\Shared drives\JakeProject\DMREF\Data\QCM-D\Old_PBTTT\QCM-D.opju&#10;PE Folder: /QCM-D/Folder1/&#10;Short Name: Graph2">
            <a:extLst>
              <a:ext uri="{FF2B5EF4-FFF2-40B4-BE49-F238E27FC236}">
                <a16:creationId xmlns:a16="http://schemas.microsoft.com/office/drawing/2014/main" id="{846F3132-8465-9BF8-F2BF-353ED3CCB4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560594"/>
              </p:ext>
            </p:extLst>
          </p:nvPr>
        </p:nvGraphicFramePr>
        <p:xfrm>
          <a:off x="1130751" y="1047750"/>
          <a:ext cx="5029200" cy="3848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920862" imgH="3001032" progId="Origin95.Graph">
                  <p:embed/>
                </p:oleObj>
              </mc:Choice>
              <mc:Fallback>
                <p:oleObj name="Graph" r:id="rId2" imgW="3920862" imgH="3001032" progId="Origin95.Graph">
                  <p:embed/>
                  <p:pic>
                    <p:nvPicPr>
                      <p:cNvPr id="4" name="Object 3" descr="Project Path: G:\Shared drives\JakeProject\DMREF\Data\QCM-D\Old_PBTTT\QCM-D.opju&#10;PE Folder: /QCM-D/Folder1/&#10;Short Name: Graph2">
                        <a:extLst>
                          <a:ext uri="{FF2B5EF4-FFF2-40B4-BE49-F238E27FC236}">
                            <a16:creationId xmlns:a16="http://schemas.microsoft.com/office/drawing/2014/main" id="{13169EB3-8740-E6A1-65C7-3C10D21A1E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0751" y="1047750"/>
                        <a:ext cx="5029200" cy="3848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Project Path: G:\Shared drives\JakeProject\DMREF\Data\QCM-D\Old_PBTTT\QCM-D.opju&#10;PE Folder: /QCM-D/Folder1/&#10;Short Name: Graph1">
            <a:extLst>
              <a:ext uri="{FF2B5EF4-FFF2-40B4-BE49-F238E27FC236}">
                <a16:creationId xmlns:a16="http://schemas.microsoft.com/office/drawing/2014/main" id="{8759A733-5E2E-FCDD-9D83-E5DBDC04D8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198620"/>
              </p:ext>
            </p:extLst>
          </p:nvPr>
        </p:nvGraphicFramePr>
        <p:xfrm>
          <a:off x="5775775" y="1047750"/>
          <a:ext cx="5029200" cy="3848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920862" imgH="3001032" progId="Origin95.Graph">
                  <p:embed/>
                </p:oleObj>
              </mc:Choice>
              <mc:Fallback>
                <p:oleObj name="Graph" r:id="rId4" imgW="3920862" imgH="3001032" progId="Origin95.Graph">
                  <p:embed/>
                  <p:pic>
                    <p:nvPicPr>
                      <p:cNvPr id="5" name="Object 4" descr="Project Path: G:\Shared drives\JakeProject\DMREF\Data\QCM-D\Old_PBTTT\QCM-D.opju&#10;PE Folder: /QCM-D/Folder1/&#10;Short Name: Graph1">
                        <a:extLst>
                          <a:ext uri="{FF2B5EF4-FFF2-40B4-BE49-F238E27FC236}">
                            <a16:creationId xmlns:a16="http://schemas.microsoft.com/office/drawing/2014/main" id="{8B8B9655-B791-B93F-21C8-9DD13A84E4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5775" y="1047750"/>
                        <a:ext cx="5029200" cy="3848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71D5951-CE04-1975-E4BF-994D8AF2BC49}"/>
              </a:ext>
            </a:extLst>
          </p:cNvPr>
          <p:cNvSpPr txBox="1"/>
          <p:nvPr/>
        </p:nvSpPr>
        <p:spPr>
          <a:xfrm>
            <a:off x="1452229" y="5032009"/>
            <a:ext cx="91776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Dopant uptake varies between films, when comparing to carrier density obtained from </a:t>
            </a:r>
            <a:r>
              <a:rPr lang="en-US" sz="2400" dirty="0" err="1"/>
              <a:t>specEchem</a:t>
            </a:r>
            <a:r>
              <a:rPr lang="en-US" sz="2400" dirty="0"/>
              <a:t> we see doping efficiency ranging from 100% to 33%</a:t>
            </a:r>
            <a:endParaRPr 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78677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1855</TotalTime>
  <Words>324</Words>
  <Application>Microsoft Macintosh PowerPoint</Application>
  <PresentationFormat>Widescreen</PresentationFormat>
  <Paragraphs>37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Symbol</vt:lpstr>
      <vt:lpstr>Office Theme</vt:lpstr>
      <vt:lpstr>Graph</vt:lpstr>
      <vt:lpstr>Experimental Details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Mauthe</dc:creator>
  <cp:lastModifiedBy>Olga Wodo</cp:lastModifiedBy>
  <cp:revision>12</cp:revision>
  <dcterms:created xsi:type="dcterms:W3CDTF">2025-11-07T15:24:04Z</dcterms:created>
  <dcterms:modified xsi:type="dcterms:W3CDTF">2025-12-04T20:51:21Z</dcterms:modified>
</cp:coreProperties>
</file>