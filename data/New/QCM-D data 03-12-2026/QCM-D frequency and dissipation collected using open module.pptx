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1" r:id="rId2"/>
    <p:sldId id="262" r:id="rId3"/>
    <p:sldId id="260" r:id="rId4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BAAD8B64-7C86-4E87-B868-7AECE8769D96}">
          <p14:sldIdLst/>
        </p14:section>
        <p14:section name="Introduction" id="{B297F746-2E94-44AB-AE92-E93B2FE82062}">
          <p14:sldIdLst>
            <p14:sldId id="261"/>
            <p14:sldId id="262"/>
            <p14:sldId id="260"/>
          </p14:sldIdLst>
        </p14:section>
        <p14:section name="Results" id="{327459F8-52D2-495F-BAAD-320D9FDF4369}">
          <p14:sldIdLst/>
        </p14:section>
        <p14:section name="Supplementary slides" id="{6BC8A7E4-6349-4050-89CB-B2D98F5C67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CC0001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6" autoAdjust="0"/>
    <p:restoredTop sz="94685" autoAdjust="0"/>
  </p:normalViewPr>
  <p:slideViewPr>
    <p:cSldViewPr snapToGrid="0" snapToObjects="1">
      <p:cViewPr varScale="1">
        <p:scale>
          <a:sx n="104" d="100"/>
          <a:sy n="104" d="100"/>
        </p:scale>
        <p:origin x="696" y="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702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026539-7FB4-DB6F-182E-EEA7BB5E1C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D9E9-0D1E-7517-BAF5-3FCFC204C6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0E8F8-987E-471C-8FB5-C9AA9E61312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6F442-B081-374D-E97D-42D726FE7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AE7FF-B116-94E6-3C18-42A9450321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2BB36-2BB7-44C3-AB23-987B88877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75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F2908-3108-416E-8578-C79FB464BF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624A7-FC6C-438E-ADAD-CFC63F5C9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6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1B9BE-EB3A-4B7D-9C21-88FBDF4883E6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866" y="0"/>
            <a:ext cx="7335804" cy="438150"/>
          </a:xfrm>
        </p:spPr>
        <p:txBody>
          <a:bodyPr/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6E593-B993-469C-9B18-133B0DDBEF7B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BE153-BF79-4069-8CD6-A727DFEB7AE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2B8EF-DC14-423B-BDAE-DEC95EDE140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30930-9C2F-4356-8236-9EC88DE2E45D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217AD-3D50-49E1-94F4-0D7BE4A432C9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05E04-17B0-49E3-B3CD-30ED7ED20C34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C8C4F-B699-4651-A7AA-7EE353F6210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5DF9B-869C-42CE-A3E8-2F9203A62CB1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8F0EF-6B40-41DD-8421-0EA458F26DF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E4437-31D8-4388-8061-CAFF2EA05BF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4BFC563-6622-4FE1-9E90-23AC436B5E3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692896-F81C-3E8A-5184-1A8BE2D9C4E0}"/>
              </a:ext>
            </a:extLst>
          </p:cNvPr>
          <p:cNvCxnSpPr>
            <a:cxnSpLocks/>
          </p:cNvCxnSpPr>
          <p:nvPr userDrawn="1"/>
        </p:nvCxnSpPr>
        <p:spPr>
          <a:xfrm>
            <a:off x="0" y="455163"/>
            <a:ext cx="9141619" cy="0"/>
          </a:xfrm>
          <a:prstGeom prst="line">
            <a:avLst/>
          </a:prstGeom>
          <a:ln w="25400">
            <a:solidFill>
              <a:srgbClr val="CC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47C08A0C-A264-4608-4D7B-06BE936B85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9390" cy="44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9CB9EE02-2D70-F66D-E9A1-9431A2CB07A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t="24206" b="25826"/>
          <a:stretch>
            <a:fillRect/>
          </a:stretch>
        </p:blipFill>
        <p:spPr>
          <a:xfrm>
            <a:off x="8260495" y="0"/>
            <a:ext cx="883505" cy="4551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2277-3F6C-6848-3250-462E46D1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experimental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9584-849B-8581-CA78-7FC06791D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6" y="438150"/>
            <a:ext cx="8229600" cy="4632686"/>
          </a:xfrm>
        </p:spPr>
        <p:txBody>
          <a:bodyPr/>
          <a:lstStyle/>
          <a:p>
            <a:r>
              <a:rPr lang="en-US" sz="1400" b="1" dirty="0"/>
              <a:t>Notes</a:t>
            </a:r>
          </a:p>
          <a:p>
            <a:pPr lvl="1"/>
            <a:r>
              <a:rPr lang="en-US" sz="1200" dirty="0"/>
              <a:t>We performed measurements on bare sensor and sensor with film on three processing conditions with low, medium and high mass uptakes</a:t>
            </a:r>
          </a:p>
          <a:p>
            <a:pPr lvl="1"/>
            <a:r>
              <a:rPr lang="en-US" sz="1200" dirty="0"/>
              <a:t>Sensor one is sample ID 81, sensor two is sample ID 21, sensor 3 is sample ID 53 in the table Jake shared a while back </a:t>
            </a:r>
          </a:p>
          <a:p>
            <a:pPr lvl="1"/>
            <a:r>
              <a:rPr lang="en-US" sz="1200" dirty="0"/>
              <a:t>4 overtones (3, 7, 9, and 13), data acquisition rate ~20 Hz</a:t>
            </a:r>
          </a:p>
          <a:p>
            <a:pPr lvl="1"/>
            <a:r>
              <a:rPr lang="en-US" sz="1200" dirty="0"/>
              <a:t>In the zip files there are separate excel files for the sensor and the film, and there is a stitched for all measurements done on the same sensor</a:t>
            </a:r>
          </a:p>
          <a:p>
            <a:pPr lvl="1"/>
            <a:r>
              <a:rPr lang="en-US" sz="1200" dirty="0"/>
              <a:t>The solvent blend and thin film annealing temperature are in the file names</a:t>
            </a:r>
          </a:p>
          <a:p>
            <a:pPr lvl="1"/>
            <a:r>
              <a:rPr lang="en-US" sz="1200" dirty="0"/>
              <a:t>In the excel files there are:</a:t>
            </a:r>
          </a:p>
          <a:p>
            <a:pPr lvl="2"/>
            <a:r>
              <a:rPr lang="en-US" sz="1200" dirty="0"/>
              <a:t>Raw data</a:t>
            </a:r>
          </a:p>
          <a:p>
            <a:pPr lvl="2"/>
            <a:r>
              <a:rPr lang="en-US" sz="1200" dirty="0"/>
              <a:t>Data correction</a:t>
            </a:r>
          </a:p>
          <a:p>
            <a:pPr lvl="2"/>
            <a:r>
              <a:rPr lang="en-US" sz="1200" dirty="0"/>
              <a:t>Delta F (air and solvent baseline) and delta m (delta m is not included in the stitched data)</a:t>
            </a:r>
          </a:p>
          <a:p>
            <a:pPr lvl="2"/>
            <a:r>
              <a:rPr lang="en-US" sz="1200" dirty="0"/>
              <a:t>Delta D (air and solvent baseline)</a:t>
            </a:r>
          </a:p>
          <a:p>
            <a:endParaRPr lang="en-US" sz="1400" b="1" dirty="0"/>
          </a:p>
          <a:p>
            <a:r>
              <a:rPr lang="en-US" sz="1400" b="1" dirty="0"/>
              <a:t>Experimental process</a:t>
            </a:r>
          </a:p>
          <a:p>
            <a:pPr lvl="1"/>
            <a:r>
              <a:rPr lang="en-US" sz="1200" dirty="0"/>
              <a:t>Air: measure ~ 6 min</a:t>
            </a:r>
          </a:p>
          <a:p>
            <a:pPr lvl="1"/>
            <a:r>
              <a:rPr lang="en-US" sz="1200" dirty="0"/>
              <a:t>n-butyl acetate (</a:t>
            </a:r>
            <a:r>
              <a:rPr lang="en-US" sz="1200" dirty="0" err="1"/>
              <a:t>nBA</a:t>
            </a:r>
            <a:r>
              <a:rPr lang="en-US" sz="1200" dirty="0"/>
              <a:t>): 150 </a:t>
            </a:r>
            <a:r>
              <a:rPr lang="en-US" sz="1200" dirty="0" err="1"/>
              <a:t>uL</a:t>
            </a:r>
            <a:r>
              <a:rPr lang="en-US" sz="1200" dirty="0"/>
              <a:t> of </a:t>
            </a:r>
            <a:r>
              <a:rPr lang="en-US" sz="1200" dirty="0" err="1"/>
              <a:t>nBA</a:t>
            </a:r>
            <a:r>
              <a:rPr lang="en-US" sz="1200" dirty="0"/>
              <a:t> dripped to the center of the sensor, measure for ~ 6 min</a:t>
            </a:r>
          </a:p>
          <a:p>
            <a:pPr lvl="1"/>
            <a:r>
              <a:rPr lang="en-US" sz="1200" dirty="0"/>
              <a:t>F4TCNQ: 100 </a:t>
            </a:r>
            <a:r>
              <a:rPr lang="en-US" sz="1200" dirty="0" err="1"/>
              <a:t>uL</a:t>
            </a:r>
            <a:r>
              <a:rPr lang="en-US" sz="1200" dirty="0"/>
              <a:t> of 5 mg/mL (F4TCNQ/</a:t>
            </a:r>
            <a:r>
              <a:rPr lang="en-US" sz="1200" dirty="0" err="1"/>
              <a:t>nBA</a:t>
            </a:r>
            <a:r>
              <a:rPr lang="en-US" sz="1200" dirty="0"/>
              <a:t>) solution dripped to the center of the sensor to achieve 2 mg/mL concentration, measure for ~ 6 min</a:t>
            </a:r>
          </a:p>
          <a:p>
            <a:pPr lvl="1"/>
            <a:r>
              <a:rPr lang="en-US" sz="1200" dirty="0"/>
              <a:t>Plots of exemplar data included in the next slide</a:t>
            </a:r>
          </a:p>
          <a:p>
            <a:pPr lvl="1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15230-6E94-8AFC-147D-8A46F706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7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02C9-C27A-0369-A50C-7EFA0DF16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16627-0F30-E168-6B47-5640BCCA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568219-CD5F-FB7E-9817-E1D721A02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893555"/>
              </p:ext>
            </p:extLst>
          </p:nvPr>
        </p:nvGraphicFramePr>
        <p:xfrm>
          <a:off x="432142" y="767930"/>
          <a:ext cx="7735002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701">
                  <a:extLst>
                    <a:ext uri="{9D8B030D-6E8A-4147-A177-3AD203B41FA5}">
                      <a16:colId xmlns:a16="http://schemas.microsoft.com/office/drawing/2014/main" val="2762426110"/>
                    </a:ext>
                  </a:extLst>
                </a:gridCol>
                <a:gridCol w="1464029">
                  <a:extLst>
                    <a:ext uri="{9D8B030D-6E8A-4147-A177-3AD203B41FA5}">
                      <a16:colId xmlns:a16="http://schemas.microsoft.com/office/drawing/2014/main" val="2061124760"/>
                    </a:ext>
                  </a:extLst>
                </a:gridCol>
                <a:gridCol w="1771968">
                  <a:extLst>
                    <a:ext uri="{9D8B030D-6E8A-4147-A177-3AD203B41FA5}">
                      <a16:colId xmlns:a16="http://schemas.microsoft.com/office/drawing/2014/main" val="1078207887"/>
                    </a:ext>
                  </a:extLst>
                </a:gridCol>
                <a:gridCol w="1281522">
                  <a:extLst>
                    <a:ext uri="{9D8B030D-6E8A-4147-A177-3AD203B41FA5}">
                      <a16:colId xmlns:a16="http://schemas.microsoft.com/office/drawing/2014/main" val="2548158097"/>
                    </a:ext>
                  </a:extLst>
                </a:gridCol>
                <a:gridCol w="1375024">
                  <a:extLst>
                    <a:ext uri="{9D8B030D-6E8A-4147-A177-3AD203B41FA5}">
                      <a16:colId xmlns:a16="http://schemas.microsoft.com/office/drawing/2014/main" val="476065854"/>
                    </a:ext>
                  </a:extLst>
                </a:gridCol>
                <a:gridCol w="946758">
                  <a:extLst>
                    <a:ext uri="{9D8B030D-6E8A-4147-A177-3AD203B41FA5}">
                      <a16:colId xmlns:a16="http://schemas.microsoft.com/office/drawing/2014/main" val="3316346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Conductivity after doping (S/cm)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Thickness before doping (nm)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Thickness after doping (nm)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Uptake old (ng/cm</a:t>
                      </a:r>
                      <a:r>
                        <a:rPr lang="en-US" sz="1200" baseline="30000" dirty="0"/>
                        <a:t>2</a:t>
                      </a:r>
                      <a:r>
                        <a:rPr lang="en-US" sz="12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Uptake New (ng/cm</a:t>
                      </a:r>
                      <a:r>
                        <a:rPr lang="en-US" sz="1200" baseline="30000" dirty="0"/>
                        <a:t>2</a:t>
                      </a:r>
                      <a:r>
                        <a:rPr lang="en-US" sz="12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9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Sensor one</a:t>
                      </a:r>
                    </a:p>
                    <a:p>
                      <a:r>
                        <a:rPr lang="en-US" sz="1200" dirty="0"/>
                        <a:t>ID 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49.87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265.25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27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Sensor two</a:t>
                      </a:r>
                    </a:p>
                    <a:p>
                      <a:r>
                        <a:rPr lang="en-US" sz="1200" dirty="0"/>
                        <a:t>ID 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20.94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339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Sensor three</a:t>
                      </a:r>
                    </a:p>
                    <a:p>
                      <a:r>
                        <a:rPr lang="en-US" sz="1200" dirty="0"/>
                        <a:t>ID 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15.31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234.5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168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BFB424-9FEC-8CD8-4F3A-484B66023263}"/>
              </a:ext>
            </a:extLst>
          </p:cNvPr>
          <p:cNvSpPr txBox="1"/>
          <p:nvPr/>
        </p:nvSpPr>
        <p:spPr>
          <a:xfrm>
            <a:off x="432142" y="2924724"/>
            <a:ext cx="7971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mass change in the Uptake New column is calculated from this new data set everything else are from the data Jake shared a while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 did not include the </a:t>
            </a:r>
            <a:r>
              <a:rPr lang="en-US" sz="1600" dirty="0" err="1"/>
              <a:t>paracrystallinity</a:t>
            </a:r>
            <a:r>
              <a:rPr lang="en-US" sz="1600" dirty="0"/>
              <a:t> and coherence length here, but they are in the data Jake 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QCM-D data is collected on a different batch of polymer, so the thickness before/after doping might be different from what’s in the old data set. We will follow up with the new thickness data later</a:t>
            </a:r>
          </a:p>
        </p:txBody>
      </p:sp>
    </p:spTree>
    <p:extLst>
      <p:ext uri="{BB962C8B-B14F-4D97-AF65-F5344CB8AC3E}">
        <p14:creationId xmlns:p14="http://schemas.microsoft.com/office/powerpoint/2010/main" val="275675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74D0-E96D-D83D-BF9C-F2341F76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1905"/>
            <a:ext cx="7553325" cy="436245"/>
          </a:xfrm>
        </p:spPr>
        <p:txBody>
          <a:bodyPr/>
          <a:lstStyle/>
          <a:p>
            <a:pPr algn="l"/>
            <a:r>
              <a:rPr lang="en-US" dirty="0"/>
              <a:t>Data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83A0E-8530-E26C-EE73-589FD527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17FFBC-8827-94DF-06C1-31EB1E598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3" y="643424"/>
            <a:ext cx="2377440" cy="2377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49D703-5972-3E6B-C14D-3B7C0CE76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13" y="2835729"/>
            <a:ext cx="2377440" cy="2377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6A1098-BA2B-CC8F-AC61-FF5970664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571" y="643424"/>
            <a:ext cx="2377440" cy="2377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F64B6F-0D46-80CD-7C55-4849A6A9E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571" y="2835729"/>
            <a:ext cx="2377440" cy="2377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00DB3F-4E2B-AC1F-2EC8-35FE29B5B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504" y="500354"/>
            <a:ext cx="3200400" cy="2450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EEA2B1-576B-B052-F969-F462618CAF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503" y="2705497"/>
            <a:ext cx="3200400" cy="24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47164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D3CCCC1-D218-4ECC-9D51-0430F299EA88}" vid="{6C9D6A04-AD0F-4044-BE0E-1E3241D153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NCSU ORaCEL template</Template>
  <TotalTime>135</TotalTime>
  <Words>384</Words>
  <Application>Microsoft Office PowerPoint</Application>
  <PresentationFormat>On-screen Show (16:9)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NCStateU-horizontal-left-logo</vt:lpstr>
      <vt:lpstr>Data and experimental details</vt:lpstr>
      <vt:lpstr>Sample information</vt:lpstr>
      <vt:lpstr>Data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Boyu Guo</dc:creator>
  <cp:lastModifiedBy>Will Dove</cp:lastModifiedBy>
  <cp:revision>23</cp:revision>
  <dcterms:created xsi:type="dcterms:W3CDTF">2026-03-10T22:06:27Z</dcterms:created>
  <dcterms:modified xsi:type="dcterms:W3CDTF">2026-03-24T03:24:49Z</dcterms:modified>
</cp:coreProperties>
</file>